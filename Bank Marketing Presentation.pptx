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d251bb473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d251bb473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d251bb473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d251bb473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b8b28666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b8b28666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b8b28666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b8b28666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b8b28666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b8b28666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d814cf7d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d814cf7d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b8b28666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b8b28666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Bank Marketing Campaign Analysis 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Business Analytics Case Study by Esther M.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Business Problem:</a:t>
            </a:r>
            <a:endParaRPr sz="2400"/>
          </a:p>
        </p:txBody>
      </p:sp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535775" y="1480150"/>
            <a:ext cx="5197200" cy="3067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0" lang="en" sz="1400">
                <a:latin typeface="Arial"/>
                <a:ea typeface="Arial"/>
                <a:cs typeface="Arial"/>
                <a:sym typeface="Arial"/>
              </a:rPr>
              <a:t>Why some customers subscribe to term deposits while others do not.</a:t>
            </a:r>
            <a:endParaRPr b="0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0" lang="en" sz="1400">
                <a:latin typeface="Arial"/>
                <a:ea typeface="Arial"/>
                <a:cs typeface="Arial"/>
                <a:sym typeface="Arial"/>
              </a:rPr>
              <a:t>Which customer segments are most likely to respond positively to marketing campaigns.</a:t>
            </a:r>
            <a:endParaRPr b="0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0" lang="en" sz="1400">
                <a:latin typeface="Arial"/>
                <a:ea typeface="Arial"/>
                <a:cs typeface="Arial"/>
                <a:sym typeface="Arial"/>
              </a:rPr>
              <a:t>How marketing resources can be allocated more effectively.</a:t>
            </a:r>
            <a:endParaRPr b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Objective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1400">
                <a:latin typeface="Arial"/>
                <a:ea typeface="Arial"/>
                <a:cs typeface="Arial"/>
                <a:sym typeface="Arial"/>
              </a:rPr>
              <a:t>Identify the key factors influencing subscription behavior and provide data-driven recommendations.</a:t>
            </a:r>
            <a:endParaRPr b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 rotWithShape="1">
          <a:blip r:embed="rId3">
            <a:alphaModFix/>
          </a:blip>
          <a:srcRect b="0" l="11681" r="11673" t="0"/>
          <a:stretch/>
        </p:blipFill>
        <p:spPr>
          <a:xfrm>
            <a:off x="7343776" y="2804500"/>
            <a:ext cx="1572275" cy="205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Dataset Overview 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7" name="Google Shape;87;p15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Dataset: Bank Marketing Dataset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Records: 11,162 customers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Variables: 17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Missing Values: 0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Target Variable: Deposit Subscription (Yes/No)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256200" y="736350"/>
            <a:ext cx="8631600" cy="383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Includes: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Char char="●"/>
            </a:pPr>
            <a:r>
              <a:rPr b="0" lang="en" sz="1900">
                <a:latin typeface="Arial"/>
                <a:ea typeface="Arial"/>
                <a:cs typeface="Arial"/>
                <a:sym typeface="Arial"/>
              </a:rPr>
              <a:t>Customer demographics</a:t>
            </a:r>
            <a:endParaRPr b="0"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Char char="●"/>
            </a:pPr>
            <a:r>
              <a:rPr b="0" lang="en" sz="1900">
                <a:latin typeface="Arial"/>
                <a:ea typeface="Arial"/>
                <a:cs typeface="Arial"/>
                <a:sym typeface="Arial"/>
              </a:rPr>
              <a:t>Financial information</a:t>
            </a:r>
            <a:endParaRPr b="0"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Char char="●"/>
            </a:pPr>
            <a:r>
              <a:rPr b="0" lang="en" sz="1900">
                <a:latin typeface="Arial"/>
                <a:ea typeface="Arial"/>
                <a:cs typeface="Arial"/>
                <a:sym typeface="Arial"/>
              </a:rPr>
              <a:t>Marketing campaign history</a:t>
            </a:r>
            <a:endParaRPr b="0"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Char char="●"/>
            </a:pPr>
            <a:r>
              <a:rPr b="0" lang="en" sz="1900">
                <a:latin typeface="Arial"/>
                <a:ea typeface="Arial"/>
                <a:cs typeface="Arial"/>
                <a:sym typeface="Arial"/>
              </a:rPr>
              <a:t>Contact methods</a:t>
            </a:r>
            <a:endParaRPr b="0"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Char char="●"/>
            </a:pPr>
            <a:r>
              <a:rPr b="0" lang="en" sz="1900">
                <a:latin typeface="Arial"/>
                <a:ea typeface="Arial"/>
                <a:cs typeface="Arial"/>
                <a:sym typeface="Arial"/>
              </a:rPr>
              <a:t>Previous campaign outcomes</a:t>
            </a:r>
            <a:endParaRPr b="0" sz="19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0850" y="876200"/>
            <a:ext cx="4501826" cy="355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283100" y="712150"/>
            <a:ext cx="8622300" cy="42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Key Finding #1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/>
              <a:t>Previous Campaign Success Drives Future Success</a:t>
            </a:r>
            <a:endParaRPr b="0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sz="24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Insight: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500">
                <a:latin typeface="Arial"/>
                <a:ea typeface="Arial"/>
                <a:cs typeface="Arial"/>
                <a:sym typeface="Arial"/>
              </a:rPr>
              <a:t>Customers who previously subscribed following</a:t>
            </a:r>
            <a:endParaRPr b="0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500">
                <a:latin typeface="Arial"/>
                <a:ea typeface="Arial"/>
                <a:cs typeface="Arial"/>
                <a:sym typeface="Arial"/>
              </a:rPr>
              <a:t> a marketing campaign achieved a conversion rate of 91.32%. </a:t>
            </a:r>
            <a:endParaRPr b="0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500">
                <a:latin typeface="Arial"/>
                <a:ea typeface="Arial"/>
                <a:cs typeface="Arial"/>
                <a:sym typeface="Arial"/>
              </a:rPr>
              <a:t>This was the strongest predictor of future </a:t>
            </a:r>
            <a:endParaRPr b="0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rPr b="0" lang="en" sz="1500">
                <a:latin typeface="Arial"/>
                <a:ea typeface="Arial"/>
                <a:cs typeface="Arial"/>
                <a:sym typeface="Arial"/>
              </a:rPr>
              <a:t>subscription behavior. </a:t>
            </a:r>
            <a:endParaRPr b="0"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8425" y="2205063"/>
            <a:ext cx="3200400" cy="28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283100" y="712150"/>
            <a:ext cx="8735700" cy="42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Key Finding #2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/>
              <a:t>Customer Relationships Matter </a:t>
            </a:r>
            <a:endParaRPr b="0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sz="24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Insight: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lang="en" sz="1500">
                <a:latin typeface="Arial"/>
                <a:ea typeface="Arial"/>
                <a:cs typeface="Arial"/>
                <a:sym typeface="Arial"/>
              </a:rPr>
              <a:t>Customers with previous engagement </a:t>
            </a:r>
            <a:endParaRPr b="0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lang="en" sz="1500">
                <a:latin typeface="Arial"/>
                <a:ea typeface="Arial"/>
                <a:cs typeface="Arial"/>
                <a:sym typeface="Arial"/>
              </a:rPr>
              <a:t>Converted at 67.12%</a:t>
            </a:r>
            <a:endParaRPr b="0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500">
                <a:latin typeface="Arial"/>
                <a:ea typeface="Arial"/>
                <a:cs typeface="Arial"/>
                <a:sym typeface="Arial"/>
              </a:rPr>
              <a:t>Building customer familiarity significantly </a:t>
            </a:r>
            <a:endParaRPr b="0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1500">
                <a:latin typeface="Arial"/>
                <a:ea typeface="Arial"/>
                <a:cs typeface="Arial"/>
                <a:sym typeface="Arial"/>
              </a:rPr>
              <a:t>improves campaign effectiveness. </a:t>
            </a:r>
            <a:endParaRPr b="0"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448088"/>
            <a:ext cx="4343400" cy="240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50825" y="561550"/>
            <a:ext cx="9093000" cy="45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Key Finding #3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/>
              <a:t>Financial Position Influences Subscription </a:t>
            </a:r>
            <a:r>
              <a:rPr b="0" lang="en" sz="2400"/>
              <a:t> </a:t>
            </a:r>
            <a:endParaRPr b="0" sz="24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Insights: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4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0" lang="en" sz="1500">
                <a:latin typeface="Arial"/>
                <a:ea typeface="Arial"/>
                <a:cs typeface="Arial"/>
                <a:sym typeface="Arial"/>
              </a:rPr>
              <a:t>High-balance customers </a:t>
            </a:r>
            <a:endParaRPr b="0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1500">
                <a:latin typeface="Arial"/>
                <a:ea typeface="Arial"/>
                <a:cs typeface="Arial"/>
                <a:sym typeface="Arial"/>
              </a:rPr>
              <a:t>converted at 57.49%</a:t>
            </a:r>
            <a:endParaRPr b="0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0" lang="en" sz="1500">
                <a:latin typeface="Arial"/>
                <a:ea typeface="Arial"/>
                <a:cs typeface="Arial"/>
                <a:sym typeface="Arial"/>
              </a:rPr>
              <a:t>Customers without housing </a:t>
            </a:r>
            <a:endParaRPr b="0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1500">
                <a:latin typeface="Arial"/>
                <a:ea typeface="Arial"/>
                <a:cs typeface="Arial"/>
                <a:sym typeface="Arial"/>
              </a:rPr>
              <a:t>loans converted at 57.03%</a:t>
            </a:r>
            <a:endParaRPr b="0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0" lang="en" sz="1500">
                <a:latin typeface="Arial"/>
                <a:ea typeface="Arial"/>
                <a:cs typeface="Arial"/>
                <a:sym typeface="Arial"/>
              </a:rPr>
              <a:t>Customers with housing </a:t>
            </a:r>
            <a:endParaRPr b="0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1500">
                <a:latin typeface="Arial"/>
                <a:ea typeface="Arial"/>
                <a:cs typeface="Arial"/>
                <a:sym typeface="Arial"/>
              </a:rPr>
              <a:t>loans converted at only 36.64%</a:t>
            </a:r>
            <a:endParaRPr b="0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0"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5750" y="2098550"/>
            <a:ext cx="5325025" cy="290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50825" y="561550"/>
            <a:ext cx="9093000" cy="45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Key Finding #4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/>
              <a:t>Communication Channel Matters </a:t>
            </a:r>
            <a:r>
              <a:rPr b="0" lang="en" sz="2400"/>
              <a:t>  </a:t>
            </a:r>
            <a:endParaRPr b="0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sz="24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Insight: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500">
                <a:latin typeface="Arial"/>
                <a:ea typeface="Arial"/>
                <a:cs typeface="Arial"/>
                <a:sym typeface="Arial"/>
              </a:rPr>
              <a:t>Cellular communication produced the </a:t>
            </a:r>
            <a:endParaRPr b="0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1500">
                <a:latin typeface="Arial"/>
                <a:ea typeface="Arial"/>
                <a:cs typeface="Arial"/>
                <a:sym typeface="Arial"/>
              </a:rPr>
              <a:t>highest conversion rate of 54.33%</a:t>
            </a:r>
            <a:endParaRPr b="0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0"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950" y="2019138"/>
            <a:ext cx="3257550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1-20 at 9.47.21 AM.png" id="122" name="Google Shape;122;p21"/>
          <p:cNvPicPr preferRelativeResize="0"/>
          <p:nvPr/>
        </p:nvPicPr>
        <p:blipFill rotWithShape="1">
          <a:blip r:embed="rId3">
            <a:alphaModFix/>
          </a:blip>
          <a:srcRect b="0" l="4413" r="4404" t="0"/>
          <a:stretch/>
        </p:blipFill>
        <p:spPr>
          <a:xfrm>
            <a:off x="0" y="0"/>
            <a:ext cx="9144000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/>
          <p:nvPr>
            <p:ph type="title"/>
          </p:nvPr>
        </p:nvSpPr>
        <p:spPr>
          <a:xfrm>
            <a:off x="283100" y="712150"/>
            <a:ext cx="7017000" cy="4121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Recommendations: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2000">
                <a:latin typeface="Arial"/>
                <a:ea typeface="Arial"/>
                <a:cs typeface="Arial"/>
                <a:sym typeface="Arial"/>
              </a:rPr>
              <a:t>✅ Prioritize customers with previous campaign success</a:t>
            </a:r>
            <a:endParaRPr b="0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2000">
                <a:latin typeface="Arial"/>
                <a:ea typeface="Arial"/>
                <a:cs typeface="Arial"/>
                <a:sym typeface="Arial"/>
              </a:rPr>
              <a:t>✅ Expand customer engagement and nurturing programs</a:t>
            </a:r>
            <a:endParaRPr b="0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2000">
                <a:latin typeface="Arial"/>
                <a:ea typeface="Arial"/>
                <a:cs typeface="Arial"/>
                <a:sym typeface="Arial"/>
              </a:rPr>
              <a:t>✅ Target high-balance customer segments</a:t>
            </a:r>
            <a:endParaRPr b="0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2000">
                <a:latin typeface="Arial"/>
                <a:ea typeface="Arial"/>
                <a:cs typeface="Arial"/>
                <a:sym typeface="Arial"/>
              </a:rPr>
              <a:t>✅ Focus campaigns on customers without housing loans</a:t>
            </a:r>
            <a:endParaRPr b="0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2000">
                <a:latin typeface="Arial"/>
                <a:ea typeface="Arial"/>
                <a:cs typeface="Arial"/>
                <a:sym typeface="Arial"/>
              </a:rPr>
              <a:t>✅ Use cellular communication as the primary contact channel</a:t>
            </a:r>
            <a:endParaRPr b="0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5-11-20 at 9.47.21 AM.png" id="128" name="Google Shape;128;p22"/>
          <p:cNvPicPr preferRelativeResize="0"/>
          <p:nvPr/>
        </p:nvPicPr>
        <p:blipFill rotWithShape="1">
          <a:blip r:embed="rId3">
            <a:alphaModFix/>
          </a:blip>
          <a:srcRect b="0" l="4413" r="4404" t="0"/>
          <a:stretch/>
        </p:blipFill>
        <p:spPr>
          <a:xfrm>
            <a:off x="0" y="0"/>
            <a:ext cx="9144000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>
            <p:ph type="title"/>
          </p:nvPr>
        </p:nvSpPr>
        <p:spPr>
          <a:xfrm>
            <a:off x="283100" y="712150"/>
            <a:ext cx="7017000" cy="4121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Conclusion: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2000">
                <a:latin typeface="Arial"/>
                <a:ea typeface="Arial"/>
                <a:cs typeface="Arial"/>
                <a:sym typeface="Arial"/>
              </a:rPr>
              <a:t>Previous campaign success, customer engagement history, financial position, and communication channels are the strongest drivers of term deposit subscriptions. By targeting high-potential customer segments and improving campaign strategy, the bank can increase conversion rates and improve marketing efficiency.</a:t>
            </a:r>
            <a:endParaRPr b="0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